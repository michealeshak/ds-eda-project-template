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352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09728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358661"/>
            <a:ext cx="105156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dirty="0">
                <a:solidFill>
                  <a:srgbClr val="56B4E9"/>
                </a:solidFill>
                <a:latin typeface="Calibri"/>
              </a:rPr>
              <a:t>KING COUNTY HOUSING —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66956"/>
            <a:ext cx="7495492" cy="1422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 dirty="0">
                <a:solidFill>
                  <a:srgbClr val="FFFFFF"/>
                </a:solidFill>
                <a:latin typeface="Calibri"/>
              </a:rPr>
              <a:t>Finding the Right Home</a:t>
            </a:r>
          </a:p>
          <a:p>
            <a:pPr algn="ctr">
              <a:lnSpc>
                <a:spcPct val="105000"/>
              </a:lnSpc>
            </a:pPr>
            <a:r>
              <a:rPr sz="4200" b="1" i="0" dirty="0">
                <a:solidFill>
                  <a:srgbClr val="FFFFFF"/>
                </a:solidFill>
                <a:latin typeface="Calibri"/>
              </a:rPr>
              <a:t>for Thomas Hansen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05840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 dirty="0">
                <a:solidFill>
                  <a:srgbClr val="C9D6E3"/>
                </a:solidFill>
                <a:latin typeface="Calibri"/>
              </a:rPr>
              <a:t>A data-driven recommendation on affordability, neighborhood, and timing</a:t>
            </a:r>
            <a:endParaRPr lang="en-US" sz="1800" b="0" i="1" dirty="0">
              <a:solidFill>
                <a:srgbClr val="C9D6E3"/>
              </a:solidFill>
              <a:latin typeface="Calibri"/>
            </a:endParaRPr>
          </a:p>
          <a:p>
            <a:pPr algn="l"/>
            <a:endParaRPr lang="en-US" sz="1800" b="0" i="1" dirty="0">
              <a:solidFill>
                <a:srgbClr val="C9D6E3"/>
              </a:solidFill>
              <a:latin typeface="Calibri"/>
            </a:endParaRPr>
          </a:p>
          <a:p>
            <a:pPr algn="l"/>
            <a:endParaRPr lang="en-US" i="1" dirty="0">
              <a:solidFill>
                <a:srgbClr val="C9D6E3"/>
              </a:solidFill>
              <a:latin typeface="Calibri"/>
            </a:endParaRPr>
          </a:p>
          <a:p>
            <a:r>
              <a:rPr lang="en-US" i="1" dirty="0">
                <a:solidFill>
                  <a:srgbClr val="C9D6E3"/>
                </a:solidFill>
              </a:rPr>
              <a:t>By Micheal Eshak              Friday, 18.09.2026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9FB3C8"/>
                </a:solidFill>
                <a:latin typeface="Calibri"/>
              </a:rPr>
              <a:t>Prepared for Thomas Hansen  |  Home Buyer Client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Meet the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18024"/>
            <a:ext cx="39319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50" dirty="0">
                <a:solidFill>
                  <a:srgbClr val="555F6B"/>
                </a:solidFill>
              </a:rPr>
              <a:t>Who am I ?</a:t>
            </a:r>
          </a:p>
          <a:p>
            <a:r>
              <a:rPr lang="en-US" sz="1250" dirty="0">
                <a:solidFill>
                  <a:srgbClr val="555F6B"/>
                </a:solidFill>
              </a:rPr>
              <a:t>Who Thomas Hansen is and what he needs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90195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87452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Our data &amp;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30428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What we analyzed and how, in plain terms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31927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9184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Can he afford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2160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Matching budget to family size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15468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331927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29184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Which neighborhood?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72160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Finding "nice" and family-friendly, within budget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73659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0916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When should he buy?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389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Does timing change the price?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57200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80" y="473659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70916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Insights &amp;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1389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Our concrete advice for Thomas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OUR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Meet Thomas Hansen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122958"/>
            <a:ext cx="5623560" cy="3406571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309360" y="239727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dirty="0">
                <a:solidFill>
                  <a:srgbClr val="0072B2"/>
                </a:solidFill>
                <a:latin typeface="Calibri"/>
              </a:rPr>
              <a:t>THE TWO QUESTIONS HE NEEDS ANSWERED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99163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8285" indent="-248285" algn="l">
              <a:spcAft>
                <a:spcPts val="1000"/>
              </a:spcAft>
            </a:pPr>
            <a:r>
              <a:rPr sz="170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700" dirty="0">
                <a:solidFill>
                  <a:srgbClr val="222B33"/>
                </a:solidFill>
                <a:latin typeface="Calibri"/>
              </a:rPr>
              <a:t>Where should he look?  (Location)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3171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8285" indent="-248285" algn="l">
              <a:spcAft>
                <a:spcPts val="1000"/>
              </a:spcAft>
            </a:pPr>
            <a:r>
              <a:rPr sz="1700" b="1">
                <a:solidFill>
                  <a:srgbClr val="0072B2"/>
                </a:solidFill>
                <a:latin typeface="Calibri"/>
              </a:rPr>
              <a:t>●  </a:t>
            </a:r>
            <a:r>
              <a:rPr sz="1700">
                <a:solidFill>
                  <a:srgbClr val="222B33"/>
                </a:solidFill>
                <a:latin typeface="Calibri"/>
              </a:rPr>
              <a:t>When should he buy?  (Timing)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546118"/>
            <a:ext cx="3800798" cy="61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1" dirty="0">
                <a:solidFill>
                  <a:srgbClr val="555F6B"/>
                </a:solidFill>
                <a:latin typeface="Calibri"/>
              </a:rPr>
              <a:t>To answer both, we turned to the actual record of</a:t>
            </a:r>
          </a:p>
          <a:p>
            <a:pPr algn="l">
              <a:lnSpc>
                <a:spcPct val="130000"/>
              </a:lnSpc>
            </a:pPr>
            <a:r>
              <a:rPr sz="1350" b="0" i="1" dirty="0">
                <a:solidFill>
                  <a:srgbClr val="555F6B"/>
                </a:solidFill>
                <a:latin typeface="Calibri"/>
              </a:rPr>
              <a:t>home sales across King County — not guesswork.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4">
            <a:extLst>
              <a:ext uri="{FF2B5EF4-FFF2-40B4-BE49-F238E27FC236}">
                <a16:creationId xmlns:a16="http://schemas.microsoft.com/office/drawing/2014/main" id="{C836E50A-76D8-9080-1489-804BF32C1642}"/>
              </a:ext>
            </a:extLst>
          </p:cNvPr>
          <p:cNvSpPr/>
          <p:nvPr/>
        </p:nvSpPr>
        <p:spPr>
          <a:xfrm>
            <a:off x="531602" y="3191204"/>
            <a:ext cx="5120640" cy="2924921"/>
          </a:xfrm>
          <a:prstGeom prst="roundRect">
            <a:avLst>
              <a:gd name="adj" fmla="val 6000"/>
            </a:avLst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AB478746-4500-100B-C6FC-C339C8512D2F}"/>
              </a:ext>
            </a:extLst>
          </p:cNvPr>
          <p:cNvSpPr/>
          <p:nvPr/>
        </p:nvSpPr>
        <p:spPr>
          <a:xfrm>
            <a:off x="548640" y="1372460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CE2EAB-5BCA-E8F9-4594-B7EC3EBBBB34}"/>
              </a:ext>
            </a:extLst>
          </p:cNvPr>
          <p:cNvSpPr txBox="1"/>
          <p:nvPr/>
        </p:nvSpPr>
        <p:spPr>
          <a:xfrm>
            <a:off x="656182" y="3321179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THOMAS HANSEN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3FDD06-F8D8-E22D-DD7E-E82FBCA7D7A8}"/>
              </a:ext>
            </a:extLst>
          </p:cNvPr>
          <p:cNvSpPr txBox="1"/>
          <p:nvPr/>
        </p:nvSpPr>
        <p:spPr>
          <a:xfrm>
            <a:off x="805922" y="3794079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56B4E9"/>
                </a:solidFill>
                <a:latin typeface="Calibri"/>
              </a:rPr>
              <a:t>Home Buyer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5B59D5-857F-B68E-4E89-EC67AB4F3335}"/>
              </a:ext>
            </a:extLst>
          </p:cNvPr>
          <p:cNvSpPr txBox="1"/>
          <p:nvPr/>
        </p:nvSpPr>
        <p:spPr>
          <a:xfrm>
            <a:off x="730657" y="4191027"/>
            <a:ext cx="44805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sz="1550" dirty="0">
                <a:solidFill>
                  <a:srgbClr val="FFFFFF"/>
                </a:solidFill>
                <a:latin typeface="Calibri"/>
              </a:rPr>
              <a:t>A family of 7 — 2 parents and 5 kids</a:t>
            </a:r>
          </a:p>
          <a:p>
            <a:pPr algn="l"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sz="1550" dirty="0">
                <a:solidFill>
                  <a:srgbClr val="FFFFFF"/>
                </a:solidFill>
                <a:latin typeface="Calibri"/>
              </a:rPr>
              <a:t>Working with a tight budget ("no money")</a:t>
            </a:r>
          </a:p>
          <a:p>
            <a:pPr algn="l"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sz="1550" dirty="0">
                <a:solidFill>
                  <a:srgbClr val="FFFFFF"/>
                </a:solidFill>
                <a:latin typeface="Calibri"/>
              </a:rPr>
              <a:t>Wants a nice, family-friendly, socially
connected neighborhood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DF25F7-41BF-80A1-8ED8-DFC2B488C215}"/>
              </a:ext>
            </a:extLst>
          </p:cNvPr>
          <p:cNvSpPr txBox="1"/>
          <p:nvPr/>
        </p:nvSpPr>
        <p:spPr>
          <a:xfrm>
            <a:off x="730657" y="1563751"/>
            <a:ext cx="45720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000" b="1" i="0" dirty="0">
                <a:solidFill>
                  <a:srgbClr val="FFFFFF"/>
                </a:solidFill>
                <a:latin typeface="Calibri"/>
              </a:rPr>
              <a:t>Micheal Eshak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BF1F03-0E25-4ADC-BB0D-184A81CF99A1}"/>
              </a:ext>
            </a:extLst>
          </p:cNvPr>
          <p:cNvSpPr txBox="1"/>
          <p:nvPr/>
        </p:nvSpPr>
        <p:spPr>
          <a:xfrm>
            <a:off x="822960" y="1979597"/>
            <a:ext cx="4572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1" dirty="0">
                <a:solidFill>
                  <a:srgbClr val="56B4E9"/>
                </a:solidFill>
              </a:rPr>
              <a:t>Data analyst</a:t>
            </a:r>
            <a:endParaRPr sz="1400" b="1" i="0" dirty="0">
              <a:solidFill>
                <a:srgbClr val="56B4E9"/>
              </a:solidFill>
              <a:latin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0147E8-0470-C2DB-8B5B-D0AAAF38304C}"/>
              </a:ext>
            </a:extLst>
          </p:cNvPr>
          <p:cNvSpPr txBox="1"/>
          <p:nvPr/>
        </p:nvSpPr>
        <p:spPr>
          <a:xfrm>
            <a:off x="730657" y="2383694"/>
            <a:ext cx="4480560" cy="3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lang="en-US" sz="1550" dirty="0">
                <a:solidFill>
                  <a:srgbClr val="FFFFFF"/>
                </a:solidFill>
              </a:rPr>
              <a:t>I'm analyzing the King County housing dataset</a:t>
            </a:r>
            <a:endParaRPr sz="155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E9F421-9A0B-7D91-B6F0-4F18273FBEC5}"/>
              </a:ext>
            </a:extLst>
          </p:cNvPr>
          <p:cNvSpPr txBox="1"/>
          <p:nvPr/>
        </p:nvSpPr>
        <p:spPr>
          <a:xfrm>
            <a:off x="3091922" y="1755042"/>
            <a:ext cx="1462825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Who am I?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5A4688-479B-099B-A83B-1BB87FE35EC8}"/>
              </a:ext>
            </a:extLst>
          </p:cNvPr>
          <p:cNvSpPr txBox="1"/>
          <p:nvPr/>
        </p:nvSpPr>
        <p:spPr>
          <a:xfrm>
            <a:off x="3091922" y="3536851"/>
            <a:ext cx="2192044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Who is my client?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Our data &amp;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429000" cy="137160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64792"/>
            <a:ext cx="3429000" cy="7543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21,596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917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home sales analyzed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91640"/>
            <a:ext cx="3429000" cy="137160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0" y="1764792"/>
            <a:ext cx="3429000" cy="7543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51917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neighborhoods (zip codes)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covered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29000" cy="137160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0" y="1764792"/>
            <a:ext cx="3429000" cy="7543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51917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months of sales data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(May 2014 – May 2015)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HOW WE GOT TO OUR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5577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Started with real King County home-sale records — prices,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location, size, condition, and sale dates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Cleaned the data: fixed an obvious data-entry error and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handled a small number of missing values sensibly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Translated Thomas's needs into three concrete, testable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questions (next slides)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Backed every answer with the actual sales numbers, not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assumptions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337560"/>
            <a:ext cx="5166360" cy="3063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20840" y="35661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OUR THREE QUESTIONS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02336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Can Thomas afford a home big enough for his family?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Which neighborhood is both “nice” and family-friendly,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within his budget?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Is there a better or worse time of year to buy?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1 —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Can Thomas afford a home big enough for his family?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55F6B"/>
                </a:solidFill>
                <a:latin typeface="Calibri"/>
              </a:rPr>
              <a:t>We set his budget at the bottom 25% of all sale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55F6B"/>
                </a:solidFill>
                <a:latin typeface="Calibri"/>
              </a:rPr>
              <a:t>prices — a strict reading of “no money.”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5212080" cy="105156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404872"/>
            <a:ext cx="5212080" cy="578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$322K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05593"/>
            <a:ext cx="493776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budget ceiling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(25th percentile of price)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20440"/>
            <a:ext cx="5212080" cy="105156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3593592"/>
            <a:ext cx="5212080" cy="578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1,227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02940"/>
            <a:ext cx="493776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homes with 4+ bedrooms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within that budget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5212080" cy="105156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782312"/>
            <a:ext cx="5212080" cy="578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5.7%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74408"/>
            <a:ext cx="493776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of all King County sales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fit his needs</a:t>
            </a:r>
          </a:p>
        </p:txBody>
      </p:sp>
      <p:pic>
        <p:nvPicPr>
          <p:cNvPr id="15" name="Picture 14" descr="hyp1_budget_bed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544554"/>
            <a:ext cx="5623560" cy="231753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035040"/>
            <a:ext cx="11109960" cy="566928"/>
          </a:xfrm>
          <a:prstGeom prst="rect">
            <a:avLst/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1081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0E442"/>
                </a:solidFill>
                <a:latin typeface="Calibri"/>
              </a:rPr>
              <a:t>Answer: Yes — a family of 7 is realistically housed within this budget in King County.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2 —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Which neighborhood is both “nice” and family-friendly?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3949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55F6B"/>
                </a:solidFill>
                <a:latin typeface="Calibri"/>
              </a:rPr>
              <a:t>Among the affordable, family-sized homes, we grouped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55F6B"/>
                </a:solidFill>
                <a:latin typeface="Calibri"/>
              </a:rPr>
              <a:t>by neighborhood and looked for areas that combine: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“Social density” — lots of other similarly affordable,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family-sized homes nearby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“Niceness” — above-average home condition and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build quality (grade)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072B2"/>
                </a:solidFill>
                <a:latin typeface="Calibri"/>
              </a:rPr>
              <a:t>READING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10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●  </a:t>
            </a:r>
            <a:r>
              <a:rPr sz="1250">
                <a:solidFill>
                  <a:srgbClr val="222B33"/>
                </a:solidFill>
                <a:latin typeface="Calibri"/>
              </a:rPr>
              <a:t>Bigger bubble = more affordable family homes nearby</a:t>
            </a:r>
          </a:p>
          <a:p>
            <a:pPr marL="182562" indent="-182562" algn="l">
              <a:spcAft>
                <a:spcPts val="10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●  </a:t>
            </a:r>
            <a:r>
              <a:rPr sz="1250">
                <a:solidFill>
                  <a:srgbClr val="222B33"/>
                </a:solidFill>
                <a:latin typeface="Calibri"/>
              </a:rPr>
              <a:t>Further right / up = better condition and build quality</a:t>
            </a:r>
          </a:p>
          <a:p>
            <a:pPr marL="182562" indent="-182562" algn="l">
              <a:spcAft>
                <a:spcPts val="10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●  </a:t>
            </a:r>
            <a:r>
              <a:rPr sz="1250">
                <a:solidFill>
                  <a:srgbClr val="222B33"/>
                </a:solidFill>
                <a:latin typeface="Calibri"/>
              </a:rPr>
              <a:t>Two zip codes stand out: 98023 and 98092</a:t>
            </a:r>
          </a:p>
        </p:txBody>
      </p:sp>
      <p:pic>
        <p:nvPicPr>
          <p:cNvPr id="10" name="Picture 9" descr="hyp2_zipcod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9631"/>
            <a:ext cx="5486400" cy="44645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2 —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Where these homes sit — and our top pick</a:t>
            </a:r>
          </a:p>
        </p:txBody>
      </p:sp>
      <p:pic>
        <p:nvPicPr>
          <p:cNvPr id="5" name="Picture 4" descr="hyp2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8" y="1554480"/>
            <a:ext cx="4970584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89320" y="1554480"/>
            <a:ext cx="5577840" cy="2331720"/>
          </a:xfrm>
          <a:prstGeom prst="roundRect">
            <a:avLst>
              <a:gd name="adj" fmla="val 8000"/>
            </a:avLst>
          </a:prstGeom>
          <a:solidFill>
            <a:srgbClr val="FDF6C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89320" y="1554480"/>
            <a:ext cx="109728" cy="2331720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6916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7A6000"/>
                </a:solidFill>
                <a:latin typeface="Calibri"/>
              </a:rPr>
              <a:t>★  1ST CHOICE — ZIP CODE 98023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4937760" cy="165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130 affordable, family-sized homes — by far the most</a:t>
            </a:r>
            <a:br>
              <a:rPr sz="1250" dirty="0">
                <a:solidFill>
                  <a:srgbClr val="222B33"/>
                </a:solidFill>
                <a:latin typeface="Calibri"/>
              </a:rPr>
            </a:br>
            <a:r>
              <a:rPr sz="1250" dirty="0">
                <a:solidFill>
                  <a:srgbClr val="222B33"/>
                </a:solidFill>
                <a:latin typeface="Calibri"/>
              </a:rPr>
              <a:t>of any neighborhood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Lower average price: $267,500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Better average condition: 3.4 / 5</a:t>
            </a:r>
            <a:endParaRPr lang="en-US" sz="1250" dirty="0">
              <a:solidFill>
                <a:srgbClr val="222B33"/>
              </a:solidFill>
              <a:latin typeface="Calibri"/>
            </a:endParaRPr>
          </a:p>
          <a:p>
            <a:pPr marL="182562" indent="-182562" algn="l">
              <a:spcAft>
                <a:spcPts val="800"/>
              </a:spcAft>
            </a:pPr>
            <a:r>
              <a:rPr lang="en-US" sz="1250" dirty="0">
                <a:solidFill>
                  <a:srgbClr val="222B33"/>
                </a:solidFill>
                <a:latin typeface="Calibri"/>
              </a:rPr>
              <a:t> Only Build quality is less</a:t>
            </a:r>
          </a:p>
          <a:p>
            <a:pPr marL="182562" indent="-182562">
              <a:spcAft>
                <a:spcPts val="800"/>
              </a:spcAft>
            </a:pPr>
            <a:r>
              <a:rPr lang="en-US" sz="1250" b="1" dirty="0">
                <a:solidFill>
                  <a:srgbClr val="9A7B00"/>
                </a:solidFill>
              </a:rPr>
              <a:t>●  </a:t>
            </a:r>
            <a:r>
              <a:rPr lang="en-US" sz="1250" dirty="0">
                <a:solidFill>
                  <a:srgbClr val="222B33"/>
                </a:solidFill>
              </a:rPr>
              <a:t>Build quality (grade): 7.5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41148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4114800"/>
            <a:ext cx="109728" cy="2286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42519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072B2"/>
                </a:solidFill>
                <a:latin typeface="Calibri"/>
              </a:rPr>
              <a:t>2ND CHOICE — ZIP CODE 98092  (backup)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6634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8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●  </a:t>
            </a:r>
            <a:r>
              <a:rPr sz="1250">
                <a:solidFill>
                  <a:srgbClr val="222B33"/>
                </a:solidFill>
                <a:latin typeface="Calibri"/>
              </a:rPr>
              <a:t>Highest average build quality (grade): 7.7 / 13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●  </a:t>
            </a:r>
            <a:r>
              <a:rPr sz="1250">
                <a:solidFill>
                  <a:srgbClr val="222B33"/>
                </a:solidFill>
                <a:latin typeface="Calibri"/>
              </a:rPr>
              <a:t>But only 63 qualifying homes — far fewer choices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>
                <a:solidFill>
                  <a:srgbClr val="0072B2"/>
                </a:solidFill>
                <a:latin typeface="Calibri"/>
              </a:rPr>
              <a:t>●  </a:t>
            </a:r>
            <a:r>
              <a:rPr sz="1250">
                <a:solidFill>
                  <a:srgbClr val="222B33"/>
                </a:solidFill>
                <a:latin typeface="Calibri"/>
              </a:rPr>
              <a:t>Higher average price: $281,000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3 —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Is there a better time of year to buy?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55F6B"/>
                </a:solidFill>
                <a:latin typeface="Calibri"/>
              </a:rPr>
              <a:t>We tracked the average price of affordable, family-</a:t>
            </a:r>
          </a:p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555F6B"/>
                </a:solidFill>
                <a:latin typeface="Calibri"/>
              </a:rPr>
              <a:t>sized homes month by month across the year.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5212080" cy="100584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587752"/>
            <a:ext cx="5212080" cy="5532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56B4E9"/>
                </a:solidFill>
                <a:latin typeface="Calibri"/>
              </a:rPr>
              <a:t>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89208"/>
            <a:ext cx="49377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price swing across the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entire year — fairly flat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57600"/>
            <a:ext cx="5212080" cy="100584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3730752"/>
            <a:ext cx="5212080" cy="5532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Dec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32208"/>
            <a:ext cx="49377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cheapest month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(avg. $261,149)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5212080" cy="100584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873752"/>
            <a:ext cx="5212080" cy="5532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66582"/>
            <a:ext cx="49377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priciest month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(avg. $282,673)</a:t>
            </a:r>
          </a:p>
        </p:txBody>
      </p:sp>
      <p:pic>
        <p:nvPicPr>
          <p:cNvPr id="15" name="Picture 14" descr="hyp3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870398"/>
            <a:ext cx="5623560" cy="366584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035040"/>
            <a:ext cx="11109960" cy="566928"/>
          </a:xfrm>
          <a:prstGeom prst="rect">
            <a:avLst/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6108192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0E442"/>
                </a:solidFill>
                <a:latin typeface="Calibri"/>
              </a:rPr>
              <a:t>Answer: Timing barely moves the needle — location matters far more than the calendar.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Key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109960" cy="146304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90195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286000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Even on a strict budget, there are 1,227 homes with 4+ bedrooms available — a family of 7 is realistically housed in King County.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11109960" cy="146304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68680" y="3749040"/>
            <a:ext cx="822960" cy="82296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59359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977640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Zip code 98023 stands out with the most affordable, family-sized homes of any neighborhood, at a price well under budget, with above-average condition and quality. 98092 is a strong backup.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0640"/>
            <a:ext cx="11109960" cy="146304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5440680"/>
            <a:ext cx="822960" cy="822960"/>
          </a:xfrm>
          <a:prstGeom prst="ellipse">
            <a:avLst/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28523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Timing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669280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Prices for this segment are fairly flat across the year (~8% swing). Location should drive the decision, not the calendar.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8016"/>
            <a:ext cx="12191695" cy="27432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56B4E9"/>
                </a:solidFill>
                <a:latin typeface="Calibri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 recommend for Thomas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73352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Start the search in zip code 98023 first — it offers the best mix of affordability, family-home availability, and community density.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16352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Keep zip code 98092 as a backup — slightly higher average build quality, but fewer homes on the market and a higher price.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977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59352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Don't over-optimize for timing — the ~8% seasonal swing is small next to the difference between neighborhoods. Let location drive the decision.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102352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If he can stay flexible, aim to close toward the end of the year (around December) for a modest additional discount.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09728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6B4E9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72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9FB3C8"/>
                </a:solidFill>
                <a:latin typeface="Calibri"/>
              </a:rPr>
              <a:t>Full analysis: 04_eda.ipynb  |  King County Housing EDA — ds-eda-project-template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970</Words>
  <Application>Microsoft Office PowerPoint</Application>
  <PresentationFormat>Widescreen</PresentationFormat>
  <Paragraphs>150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Micheal Eshak</cp:lastModifiedBy>
  <cp:revision>4</cp:revision>
  <dcterms:created xsi:type="dcterms:W3CDTF">2013-01-27T09:14:16Z</dcterms:created>
  <dcterms:modified xsi:type="dcterms:W3CDTF">2026-09-16T15:38:42Z</dcterms:modified>
  <cp:category/>
</cp:coreProperties>
</file>