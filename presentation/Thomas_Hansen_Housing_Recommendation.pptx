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1" r:id="rId7"/>
    <p:sldId id="262" r:id="rId8"/>
    <p:sldId id="263" r:id="rId9"/>
    <p:sldId id="267" r:id="rId10"/>
    <p:sldId id="269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8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8946F-5DF8-4A33-8C51-79D8471AD9E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DA97B9-FBCB-4246-9102-A06A7E8A9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39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A97B9-FBCB-4246-9102-A06A7E8A9F5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109728"/>
          </a:xfrm>
          <a:prstGeom prst="rect">
            <a:avLst/>
          </a:prstGeom>
          <a:solidFill>
            <a:srgbClr val="F0E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58661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56B4E9"/>
                </a:solidFill>
                <a:latin typeface="Calibri"/>
              </a:rPr>
              <a:t>KING COUNTY HOUSING —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66956"/>
            <a:ext cx="7495492" cy="1422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200" b="1" i="0" dirty="0">
                <a:solidFill>
                  <a:srgbClr val="FFFFFF"/>
                </a:solidFill>
                <a:latin typeface="Calibri"/>
              </a:rPr>
              <a:t>Finding the Right Home</a:t>
            </a:r>
          </a:p>
          <a:p>
            <a:pPr algn="ctr">
              <a:lnSpc>
                <a:spcPct val="105000"/>
              </a:lnSpc>
            </a:pPr>
            <a:r>
              <a:rPr sz="4200" b="1" i="0" dirty="0">
                <a:solidFill>
                  <a:srgbClr val="FFFFFF"/>
                </a:solidFill>
                <a:latin typeface="Calibri"/>
              </a:rPr>
              <a:t>for Thomas Hansen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05840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 dirty="0">
                <a:solidFill>
                  <a:srgbClr val="C9D6E3"/>
                </a:solidFill>
                <a:latin typeface="Calibri"/>
              </a:rPr>
              <a:t>A data-driven recommendation on affordability, neighborhood, and timing</a:t>
            </a:r>
            <a:endParaRPr lang="en-US" sz="1800" b="0" i="1" dirty="0">
              <a:solidFill>
                <a:srgbClr val="C9D6E3"/>
              </a:solidFill>
              <a:latin typeface="Calibri"/>
            </a:endParaRPr>
          </a:p>
          <a:p>
            <a:pPr algn="l"/>
            <a:endParaRPr lang="en-US" sz="1800" b="0" i="1" dirty="0">
              <a:solidFill>
                <a:srgbClr val="C9D6E3"/>
              </a:solidFill>
              <a:latin typeface="Calibri"/>
            </a:endParaRPr>
          </a:p>
          <a:p>
            <a:pPr algn="l"/>
            <a:endParaRPr lang="en-US" i="1" dirty="0">
              <a:solidFill>
                <a:srgbClr val="C9D6E3"/>
              </a:solidFill>
              <a:latin typeface="Calibri"/>
            </a:endParaRPr>
          </a:p>
          <a:p>
            <a:r>
              <a:rPr lang="en-US" i="1" dirty="0">
                <a:solidFill>
                  <a:srgbClr val="C9D6E3"/>
                </a:solidFill>
              </a:rPr>
              <a:t>By Micheal Eshak              Friday, 18.09.2026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FB3C8"/>
                </a:solidFill>
                <a:latin typeface="Calibri"/>
              </a:rPr>
              <a:t>Prepared for Thomas Hansen  |  Home Buyer Client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2A45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56B4E9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7452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2A45"/>
                </a:solidFill>
                <a:latin typeface="Calibri"/>
              </a:rPr>
              <a:t>Meet the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18024"/>
            <a:ext cx="39319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50" dirty="0">
                <a:solidFill>
                  <a:srgbClr val="555F6B"/>
                </a:solidFill>
              </a:rPr>
              <a:t>Who am I ?</a:t>
            </a:r>
          </a:p>
          <a:p>
            <a:r>
              <a:rPr lang="en-US" sz="1250" dirty="0">
                <a:solidFill>
                  <a:srgbClr val="555F6B"/>
                </a:solidFill>
              </a:rPr>
              <a:t>Who Thomas Hansen is and what he needs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901952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56B4E9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87452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2A45"/>
                </a:solidFill>
                <a:latin typeface="Calibri"/>
              </a:rPr>
              <a:t>Our data &amp;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304288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5F6B"/>
                </a:solidFill>
                <a:latin typeface="Calibri"/>
              </a:rPr>
              <a:t>What we analyzed and how, in plain terms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5468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319272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56B4E9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918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2A45"/>
                </a:solidFill>
                <a:latin typeface="Calibri"/>
              </a:rPr>
              <a:t>Can he afford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21608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5F6B"/>
                </a:solidFill>
                <a:latin typeface="Calibri"/>
              </a:rPr>
              <a:t>Matching budget to family size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15468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319272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56B4E9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2918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2A45"/>
                </a:solidFill>
                <a:latin typeface="Calibri"/>
              </a:rPr>
              <a:t>Which neighborhood?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721608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5F6B"/>
                </a:solidFill>
                <a:latin typeface="Calibri"/>
              </a:rPr>
              <a:t>Finding "nice" and family-friendly, within budget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736592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56B4E9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0916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2A45"/>
                </a:solidFill>
                <a:latin typeface="Calibri"/>
              </a:rPr>
              <a:t>When should he buy?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38928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5F6B"/>
                </a:solidFill>
                <a:latin typeface="Calibri"/>
              </a:rPr>
              <a:t>Does timing change the price?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57200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4736592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56B4E9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70916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2A45"/>
                </a:solidFill>
                <a:latin typeface="Calibri"/>
              </a:rPr>
              <a:t>Insights &amp; recommendations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5138928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5F6B"/>
                </a:solidFill>
                <a:latin typeface="Calibri"/>
              </a:rPr>
              <a:t>Our concrete advice for Thomas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55F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Calibri"/>
              </a:rPr>
              <a:t>OUR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2A45"/>
                </a:solidFill>
                <a:latin typeface="Calibri"/>
              </a:rPr>
              <a:t>Meet Thomas Hansen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22958"/>
            <a:ext cx="4572000" cy="3406571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766558" y="2561178"/>
            <a:ext cx="4154484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dirty="0">
                <a:solidFill>
                  <a:srgbClr val="0072B2"/>
                </a:solidFill>
                <a:latin typeface="Calibri"/>
              </a:rPr>
              <a:t>THE TWO QUESTIONS HE NEEDS ANSWERED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8" y="3155538"/>
            <a:ext cx="380079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8285" indent="-248285" algn="l">
              <a:spcAft>
                <a:spcPts val="1000"/>
              </a:spcAft>
            </a:pPr>
            <a:r>
              <a:rPr sz="170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700" dirty="0">
                <a:solidFill>
                  <a:srgbClr val="222B33"/>
                </a:solidFill>
                <a:latin typeface="Calibri"/>
              </a:rPr>
              <a:t>Where should he look?  (Location)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8" y="3795618"/>
            <a:ext cx="367140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8285" indent="-248285" algn="l">
              <a:spcAft>
                <a:spcPts val="1000"/>
              </a:spcAft>
            </a:pPr>
            <a:r>
              <a:rPr sz="170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700" dirty="0">
                <a:solidFill>
                  <a:srgbClr val="222B33"/>
                </a:solidFill>
                <a:latin typeface="Calibri"/>
              </a:rPr>
              <a:t>When should he buy?  (Timing)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7440" y="4328146"/>
            <a:ext cx="3800798" cy="610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 dirty="0">
                <a:solidFill>
                  <a:srgbClr val="555F6B"/>
                </a:solidFill>
                <a:latin typeface="Calibri"/>
              </a:rPr>
              <a:t>To answer both, we turned to the actual record of</a:t>
            </a:r>
          </a:p>
          <a:p>
            <a:pPr algn="l">
              <a:lnSpc>
                <a:spcPct val="130000"/>
              </a:lnSpc>
            </a:pPr>
            <a:r>
              <a:rPr sz="1350" b="0" i="1" dirty="0">
                <a:solidFill>
                  <a:srgbClr val="555F6B"/>
                </a:solidFill>
                <a:latin typeface="Calibri"/>
              </a:rPr>
              <a:t>home sales across King County — not guesswork.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55F6B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C836E50A-76D8-9080-1489-804BF32C1642}"/>
              </a:ext>
            </a:extLst>
          </p:cNvPr>
          <p:cNvSpPr/>
          <p:nvPr/>
        </p:nvSpPr>
        <p:spPr>
          <a:xfrm>
            <a:off x="531602" y="3191204"/>
            <a:ext cx="5623560" cy="2924921"/>
          </a:xfrm>
          <a:prstGeom prst="roundRect">
            <a:avLst>
              <a:gd name="adj" fmla="val 6000"/>
            </a:avLst>
          </a:prstGeom>
          <a:solidFill>
            <a:srgbClr val="0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AB478746-4500-100B-C6FC-C339C8512D2F}"/>
              </a:ext>
            </a:extLst>
          </p:cNvPr>
          <p:cNvSpPr/>
          <p:nvPr/>
        </p:nvSpPr>
        <p:spPr>
          <a:xfrm>
            <a:off x="548640" y="1372460"/>
            <a:ext cx="5606522" cy="1737360"/>
          </a:xfrm>
          <a:prstGeom prst="roundRect">
            <a:avLst>
              <a:gd name="adj" fmla="val 6000"/>
            </a:avLst>
          </a:prstGeom>
          <a:solidFill>
            <a:srgbClr val="0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CE2EAB-5BCA-E8F9-4594-B7EC3EBBBB34}"/>
              </a:ext>
            </a:extLst>
          </p:cNvPr>
          <p:cNvSpPr txBox="1"/>
          <p:nvPr/>
        </p:nvSpPr>
        <p:spPr>
          <a:xfrm>
            <a:off x="656182" y="3321179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THOMAS HANSEN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3FDD06-F8D8-E22D-DD7E-E82FBCA7D7A8}"/>
              </a:ext>
            </a:extLst>
          </p:cNvPr>
          <p:cNvSpPr txBox="1"/>
          <p:nvPr/>
        </p:nvSpPr>
        <p:spPr>
          <a:xfrm>
            <a:off x="805922" y="3794079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56B4E9"/>
                </a:solidFill>
                <a:latin typeface="Calibri"/>
              </a:rPr>
              <a:t>Home Buyer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5B59D5-857F-B68E-4E89-EC67AB4F3335}"/>
              </a:ext>
            </a:extLst>
          </p:cNvPr>
          <p:cNvSpPr txBox="1"/>
          <p:nvPr/>
        </p:nvSpPr>
        <p:spPr>
          <a:xfrm>
            <a:off x="730656" y="4191027"/>
            <a:ext cx="6049706" cy="1218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 dirty="0">
                <a:solidFill>
                  <a:srgbClr val="F0E442"/>
                </a:solidFill>
                <a:latin typeface="Calibri"/>
              </a:rPr>
              <a:t>●  </a:t>
            </a:r>
            <a:r>
              <a:rPr sz="1550" dirty="0">
                <a:solidFill>
                  <a:srgbClr val="FFFFFF"/>
                </a:solidFill>
                <a:latin typeface="Calibri"/>
              </a:rPr>
              <a:t>A family of 7 — 2 parents and 5 kids</a:t>
            </a:r>
          </a:p>
          <a:p>
            <a:pPr algn="l">
              <a:spcAft>
                <a:spcPts val="1600"/>
              </a:spcAft>
            </a:pPr>
            <a:r>
              <a:rPr sz="1550" b="1" dirty="0">
                <a:solidFill>
                  <a:srgbClr val="F0E442"/>
                </a:solidFill>
                <a:latin typeface="Calibri"/>
              </a:rPr>
              <a:t>●  </a:t>
            </a:r>
            <a:r>
              <a:rPr sz="1550" dirty="0">
                <a:solidFill>
                  <a:srgbClr val="FFFFFF"/>
                </a:solidFill>
                <a:latin typeface="Calibri"/>
              </a:rPr>
              <a:t>Working with a tight budget ("no money")</a:t>
            </a:r>
          </a:p>
          <a:p>
            <a:pPr algn="l">
              <a:spcAft>
                <a:spcPts val="1600"/>
              </a:spcAft>
            </a:pPr>
            <a:r>
              <a:rPr sz="1550" b="1" dirty="0">
                <a:solidFill>
                  <a:srgbClr val="F0E442"/>
                </a:solidFill>
                <a:latin typeface="Calibri"/>
              </a:rPr>
              <a:t>●  </a:t>
            </a:r>
            <a:r>
              <a:rPr sz="1550" dirty="0">
                <a:solidFill>
                  <a:srgbClr val="FFFFFF"/>
                </a:solidFill>
                <a:latin typeface="Calibri"/>
              </a:rPr>
              <a:t>Wants a nice, family-friendly, socially</a:t>
            </a:r>
            <a:r>
              <a:rPr lang="en-US" sz="1550" dirty="0">
                <a:solidFill>
                  <a:srgbClr val="FFFFFF"/>
                </a:solidFill>
                <a:latin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</a:rPr>
              <a:t>connected neighborhood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DF25F7-41BF-80A1-8ED8-DFC2B488C215}"/>
              </a:ext>
            </a:extLst>
          </p:cNvPr>
          <p:cNvSpPr txBox="1"/>
          <p:nvPr/>
        </p:nvSpPr>
        <p:spPr>
          <a:xfrm>
            <a:off x="730657" y="1563751"/>
            <a:ext cx="4572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i="0" dirty="0">
                <a:solidFill>
                  <a:srgbClr val="FFFFFF"/>
                </a:solidFill>
                <a:latin typeface="Calibri"/>
              </a:rPr>
              <a:t>Micheal Eshak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BF1F03-0E25-4ADC-BB0D-184A81CF99A1}"/>
              </a:ext>
            </a:extLst>
          </p:cNvPr>
          <p:cNvSpPr txBox="1"/>
          <p:nvPr/>
        </p:nvSpPr>
        <p:spPr>
          <a:xfrm>
            <a:off x="822960" y="1979597"/>
            <a:ext cx="4572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b="1" dirty="0">
                <a:solidFill>
                  <a:srgbClr val="56B4E9"/>
                </a:solidFill>
              </a:rPr>
              <a:t>Data analyst</a:t>
            </a:r>
            <a:endParaRPr sz="1400" b="1" i="0" dirty="0">
              <a:solidFill>
                <a:srgbClr val="56B4E9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0147E8-0470-C2DB-8B5B-D0AAAF38304C}"/>
              </a:ext>
            </a:extLst>
          </p:cNvPr>
          <p:cNvSpPr txBox="1"/>
          <p:nvPr/>
        </p:nvSpPr>
        <p:spPr>
          <a:xfrm>
            <a:off x="730657" y="2383694"/>
            <a:ext cx="4480560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50" b="1" dirty="0">
                <a:solidFill>
                  <a:srgbClr val="F0E442"/>
                </a:solidFill>
                <a:latin typeface="Calibri"/>
              </a:rPr>
              <a:t>●  </a:t>
            </a:r>
            <a:r>
              <a:rPr lang="en-US" sz="1550" dirty="0">
                <a:solidFill>
                  <a:srgbClr val="FFFFFF"/>
                </a:solidFill>
              </a:rPr>
              <a:t>I'm analyzing the King County housing dataset</a:t>
            </a:r>
            <a:endParaRPr sz="155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E9F421-9A0B-7D91-B6F0-4F18273FBEC5}"/>
              </a:ext>
            </a:extLst>
          </p:cNvPr>
          <p:cNvSpPr txBox="1"/>
          <p:nvPr/>
        </p:nvSpPr>
        <p:spPr>
          <a:xfrm>
            <a:off x="3091922" y="1755042"/>
            <a:ext cx="1462825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Who am I?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5A4688-479B-099B-A83B-1BB87FE35EC8}"/>
              </a:ext>
            </a:extLst>
          </p:cNvPr>
          <p:cNvSpPr txBox="1"/>
          <p:nvPr/>
        </p:nvSpPr>
        <p:spPr>
          <a:xfrm>
            <a:off x="3091922" y="3536851"/>
            <a:ext cx="219204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Who is my client?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2A45"/>
                </a:solidFill>
                <a:latin typeface="Calibri"/>
              </a:rPr>
              <a:t>Our data &amp;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64792"/>
            <a:ext cx="3429000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0072B2"/>
                </a:solidFill>
                <a:latin typeface="Calibri"/>
              </a:rPr>
              <a:t>21,596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917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55F6B"/>
                </a:solidFill>
                <a:latin typeface="Calibri"/>
              </a:rPr>
              <a:t>home sales analyzed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9164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764792"/>
            <a:ext cx="3429000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0072B2"/>
                </a:solidFill>
                <a:latin typeface="Calibri"/>
              </a:rPr>
              <a:t>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51917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55F6B"/>
                </a:solidFill>
                <a:latin typeface="Calibri"/>
              </a:rPr>
              <a:t>neighborhoods (zip codes)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55F6B"/>
                </a:solidFill>
                <a:latin typeface="Calibri"/>
              </a:rPr>
              <a:t>covered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1764792"/>
            <a:ext cx="3429000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0072B2"/>
                </a:solidFill>
                <a:latin typeface="Calibr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51917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55F6B"/>
                </a:solidFill>
                <a:latin typeface="Calibri"/>
              </a:rPr>
              <a:t>months of sales data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55F6B"/>
                </a:solidFill>
                <a:latin typeface="Calibri"/>
              </a:rPr>
              <a:t>(May 2014 – May 2015)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Calibri"/>
              </a:rPr>
              <a:t>HOW WE GOT TO OUR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5054992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167" indent="-197167" algn="l">
              <a:spcAft>
                <a:spcPts val="1400"/>
              </a:spcAft>
            </a:pPr>
            <a:r>
              <a:rPr sz="1350" b="1">
                <a:solidFill>
                  <a:srgbClr val="0072B2"/>
                </a:solidFill>
                <a:latin typeface="Calibri"/>
              </a:rPr>
              <a:t>●  </a:t>
            </a:r>
            <a:r>
              <a:rPr sz="1350">
                <a:solidFill>
                  <a:srgbClr val="222B33"/>
                </a:solidFill>
                <a:latin typeface="Calibri"/>
              </a:rPr>
              <a:t>Started with real King County home-sale records — prices,</a:t>
            </a:r>
            <a:br>
              <a:rPr sz="1350">
                <a:solidFill>
                  <a:srgbClr val="222B33"/>
                </a:solidFill>
                <a:latin typeface="Calibri"/>
              </a:rPr>
            </a:br>
            <a:r>
              <a:rPr sz="1350">
                <a:solidFill>
                  <a:srgbClr val="222B33"/>
                </a:solidFill>
                <a:latin typeface="Calibri"/>
              </a:rPr>
              <a:t>location, size, condition, and sale dates</a:t>
            </a:r>
          </a:p>
          <a:p>
            <a:pPr marL="197167" indent="-197167" algn="l">
              <a:spcAft>
                <a:spcPts val="1400"/>
              </a:spcAft>
            </a:pPr>
            <a:r>
              <a:rPr sz="1350" b="1">
                <a:solidFill>
                  <a:srgbClr val="0072B2"/>
                </a:solidFill>
                <a:latin typeface="Calibri"/>
              </a:rPr>
              <a:t>●  </a:t>
            </a:r>
            <a:r>
              <a:rPr sz="1350">
                <a:solidFill>
                  <a:srgbClr val="222B33"/>
                </a:solidFill>
                <a:latin typeface="Calibri"/>
              </a:rPr>
              <a:t>Cleaned the data: fixed an obvious data-entry error and</a:t>
            </a:r>
            <a:br>
              <a:rPr sz="1350">
                <a:solidFill>
                  <a:srgbClr val="222B33"/>
                </a:solidFill>
                <a:latin typeface="Calibri"/>
              </a:rPr>
            </a:br>
            <a:r>
              <a:rPr sz="1350">
                <a:solidFill>
                  <a:srgbClr val="222B33"/>
                </a:solidFill>
                <a:latin typeface="Calibri"/>
              </a:rPr>
              <a:t>handled a small number of missing values sensibly</a:t>
            </a:r>
          </a:p>
          <a:p>
            <a:pPr marL="197167" indent="-197167" algn="l">
              <a:spcAft>
                <a:spcPts val="1400"/>
              </a:spcAft>
            </a:pPr>
            <a:r>
              <a:rPr sz="1350" b="1">
                <a:solidFill>
                  <a:srgbClr val="0072B2"/>
                </a:solidFill>
                <a:latin typeface="Calibri"/>
              </a:rPr>
              <a:t>●  </a:t>
            </a:r>
            <a:r>
              <a:rPr sz="1350">
                <a:solidFill>
                  <a:srgbClr val="222B33"/>
                </a:solidFill>
                <a:latin typeface="Calibri"/>
              </a:rPr>
              <a:t>Translated Thomas's needs into three concrete, testable</a:t>
            </a:r>
            <a:br>
              <a:rPr sz="1350">
                <a:solidFill>
                  <a:srgbClr val="222B33"/>
                </a:solidFill>
                <a:latin typeface="Calibri"/>
              </a:rPr>
            </a:br>
            <a:r>
              <a:rPr sz="1350">
                <a:solidFill>
                  <a:srgbClr val="222B33"/>
                </a:solidFill>
                <a:latin typeface="Calibri"/>
              </a:rPr>
              <a:t>questions (next slides)</a:t>
            </a:r>
          </a:p>
          <a:p>
            <a:pPr marL="197167" indent="-197167" algn="l">
              <a:spcAft>
                <a:spcPts val="1400"/>
              </a:spcAft>
            </a:pPr>
            <a:r>
              <a:rPr sz="1350" b="1">
                <a:solidFill>
                  <a:srgbClr val="0072B2"/>
                </a:solidFill>
                <a:latin typeface="Calibri"/>
              </a:rPr>
              <a:t>●  </a:t>
            </a:r>
            <a:r>
              <a:rPr sz="1350">
                <a:solidFill>
                  <a:srgbClr val="222B33"/>
                </a:solidFill>
                <a:latin typeface="Calibri"/>
              </a:rPr>
              <a:t>Backed every answer with the actual sales numbers, not</a:t>
            </a:r>
            <a:br>
              <a:rPr sz="1350">
                <a:solidFill>
                  <a:srgbClr val="222B33"/>
                </a:solidFill>
                <a:latin typeface="Calibri"/>
              </a:rPr>
            </a:br>
            <a:r>
              <a:rPr sz="1350">
                <a:solidFill>
                  <a:srgbClr val="222B33"/>
                </a:solidFill>
                <a:latin typeface="Calibri"/>
              </a:rPr>
              <a:t>assumptions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1628" y="3525126"/>
            <a:ext cx="4663440" cy="2336409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65948" y="375372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Calibri"/>
              </a:rPr>
              <a:t>OUR THREE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5948" y="4210926"/>
            <a:ext cx="4663440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167" indent="-197167" algn="l">
              <a:spcAft>
                <a:spcPts val="1400"/>
              </a:spcAft>
            </a:pPr>
            <a:r>
              <a:rPr sz="13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350" dirty="0">
                <a:solidFill>
                  <a:srgbClr val="222B33"/>
                </a:solidFill>
                <a:latin typeface="Calibri"/>
              </a:rPr>
              <a:t>Can Thomas afford a home big enough for his family?</a:t>
            </a:r>
          </a:p>
          <a:p>
            <a:pPr marL="197167" indent="-197167" algn="l">
              <a:spcAft>
                <a:spcPts val="1400"/>
              </a:spcAft>
            </a:pPr>
            <a:r>
              <a:rPr sz="13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350" dirty="0">
                <a:solidFill>
                  <a:srgbClr val="222B33"/>
                </a:solidFill>
                <a:latin typeface="Calibri"/>
              </a:rPr>
              <a:t>Which neighborhood is both “nice” and family-friendly,</a:t>
            </a:r>
            <a:br>
              <a:rPr sz="1350" dirty="0">
                <a:solidFill>
                  <a:srgbClr val="222B33"/>
                </a:solidFill>
                <a:latin typeface="Calibri"/>
              </a:rPr>
            </a:br>
            <a:r>
              <a:rPr sz="1350" dirty="0">
                <a:solidFill>
                  <a:srgbClr val="222B33"/>
                </a:solidFill>
                <a:latin typeface="Calibri"/>
              </a:rPr>
              <a:t>within his budget?</a:t>
            </a:r>
          </a:p>
          <a:p>
            <a:pPr marL="197167" indent="-197167" algn="l">
              <a:spcAft>
                <a:spcPts val="1400"/>
              </a:spcAft>
            </a:pPr>
            <a:r>
              <a:rPr sz="13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350" dirty="0">
                <a:solidFill>
                  <a:srgbClr val="222B33"/>
                </a:solidFill>
                <a:latin typeface="Calibri"/>
              </a:rPr>
              <a:t>Is there a better or worse time of year to buy?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55F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9EE41-C66C-0951-2519-1AFC4F24E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yp1_budget_bedrooms.png">
            <a:extLst>
              <a:ext uri="{FF2B5EF4-FFF2-40B4-BE49-F238E27FC236}">
                <a16:creationId xmlns:a16="http://schemas.microsoft.com/office/drawing/2014/main" id="{D3DCBCB1-4B41-0CBF-E316-F585D804D2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92"/>
          <a:stretch>
            <a:fillRect/>
          </a:stretch>
        </p:blipFill>
        <p:spPr>
          <a:xfrm>
            <a:off x="5760720" y="1959226"/>
            <a:ext cx="4777920" cy="3953234"/>
          </a:xfrm>
          <a:prstGeom prst="rect">
            <a:avLst/>
          </a:prstGeom>
        </p:spPr>
      </p:pic>
      <p:pic>
        <p:nvPicPr>
          <p:cNvPr id="15" name="Picture 14" descr="hyp1_budget_bedrooms.png">
            <a:extLst>
              <a:ext uri="{FF2B5EF4-FFF2-40B4-BE49-F238E27FC236}">
                <a16:creationId xmlns:a16="http://schemas.microsoft.com/office/drawing/2014/main" id="{4BE9D3C2-F53D-D0EC-C02C-B9EEEF9C3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192"/>
          <a:stretch>
            <a:fillRect/>
          </a:stretch>
        </p:blipFill>
        <p:spPr>
          <a:xfrm>
            <a:off x="596336" y="1959226"/>
            <a:ext cx="4777920" cy="395323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5FCA1A-38C4-3E99-B91F-ADF6E49C7CFA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CCEAE7-4ED9-F128-94F5-1AC1BEAA975B}"/>
              </a:ext>
            </a:extLst>
          </p:cNvPr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Calibri"/>
              </a:rPr>
              <a:t>QUESTION 1 — FEASIBILITY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B32A7-EB12-5B0D-5EC0-CB446141468A}"/>
              </a:ext>
            </a:extLst>
          </p:cNvPr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2A45"/>
                </a:solidFill>
                <a:latin typeface="Calibri"/>
              </a:rPr>
              <a:t>Can Thomas afford a home big enough for his family?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80BA6-4DFE-1151-C5E8-4D1031D313F8}"/>
              </a:ext>
            </a:extLst>
          </p:cNvPr>
          <p:cNvSpPr txBox="1"/>
          <p:nvPr/>
        </p:nvSpPr>
        <p:spPr>
          <a:xfrm>
            <a:off x="548640" y="1207008"/>
            <a:ext cx="5212080" cy="5925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 dirty="0">
                <a:solidFill>
                  <a:srgbClr val="555F6B"/>
                </a:solidFill>
                <a:latin typeface="Calibri"/>
              </a:rPr>
              <a:t>We set his budget at the bottom 25% of all sale</a:t>
            </a:r>
          </a:p>
          <a:p>
            <a:pPr algn="l">
              <a:lnSpc>
                <a:spcPct val="125000"/>
              </a:lnSpc>
            </a:pPr>
            <a:r>
              <a:rPr sz="1350" b="1" i="0" dirty="0">
                <a:solidFill>
                  <a:srgbClr val="555F6B"/>
                </a:solidFill>
                <a:latin typeface="Calibri"/>
              </a:rPr>
              <a:t>prices — a strict reading of “no money.”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08719-D10E-7D29-7689-B62C3FD5D7D9}"/>
              </a:ext>
            </a:extLst>
          </p:cNvPr>
          <p:cNvSpPr txBox="1"/>
          <p:nvPr/>
        </p:nvSpPr>
        <p:spPr>
          <a:xfrm>
            <a:off x="3154680" y="2636858"/>
            <a:ext cx="1696815" cy="7796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2000" b="1" dirty="0">
                <a:solidFill>
                  <a:srgbClr val="0072B2"/>
                </a:solidFill>
              </a:rPr>
              <a:t>$322K</a:t>
            </a:r>
            <a:endParaRPr lang="en-US" sz="1150" b="0" i="0" dirty="0">
              <a:solidFill>
                <a:srgbClr val="555F6B"/>
              </a:solidFill>
              <a:latin typeface="Calibri"/>
            </a:endParaRPr>
          </a:p>
          <a:p>
            <a:pPr algn="ctr">
              <a:lnSpc>
                <a:spcPct val="105000"/>
              </a:lnSpc>
            </a:pPr>
            <a:r>
              <a:rPr sz="1150" b="0" i="0" dirty="0">
                <a:solidFill>
                  <a:srgbClr val="555F6B"/>
                </a:solidFill>
                <a:latin typeface="Calibri"/>
              </a:rPr>
              <a:t>budget ceiling</a:t>
            </a:r>
          </a:p>
          <a:p>
            <a:pPr algn="ctr">
              <a:lnSpc>
                <a:spcPct val="105000"/>
              </a:lnSpc>
            </a:pPr>
            <a:r>
              <a:rPr sz="1150" b="0" i="0" dirty="0">
                <a:solidFill>
                  <a:srgbClr val="555F6B"/>
                </a:solidFill>
                <a:latin typeface="Calibri"/>
              </a:rPr>
              <a:t>(25th percentile of price)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73A297-34A4-154D-B392-6AB2DCC8EBFD}"/>
              </a:ext>
            </a:extLst>
          </p:cNvPr>
          <p:cNvSpPr txBox="1"/>
          <p:nvPr/>
        </p:nvSpPr>
        <p:spPr>
          <a:xfrm>
            <a:off x="8409427" y="2414028"/>
            <a:ext cx="1984002" cy="7796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2000" b="1" dirty="0">
                <a:solidFill>
                  <a:srgbClr val="0072B2"/>
                </a:solidFill>
              </a:rPr>
              <a:t>1,227</a:t>
            </a:r>
            <a:endParaRPr lang="en-US" sz="2000" b="0" i="0" dirty="0">
              <a:solidFill>
                <a:srgbClr val="555F6B"/>
              </a:solidFill>
              <a:latin typeface="Calibri"/>
            </a:endParaRPr>
          </a:p>
          <a:p>
            <a:pPr algn="ctr">
              <a:lnSpc>
                <a:spcPct val="105000"/>
              </a:lnSpc>
            </a:pPr>
            <a:r>
              <a:rPr sz="1150" b="0" i="0" dirty="0">
                <a:solidFill>
                  <a:srgbClr val="555F6B"/>
                </a:solidFill>
                <a:latin typeface="Calibri"/>
              </a:rPr>
              <a:t>homes with 4+ bedrooms</a:t>
            </a:r>
          </a:p>
          <a:p>
            <a:pPr algn="ctr">
              <a:lnSpc>
                <a:spcPct val="105000"/>
              </a:lnSpc>
            </a:pPr>
            <a:r>
              <a:rPr sz="1150" b="0" i="0" dirty="0">
                <a:solidFill>
                  <a:srgbClr val="555F6B"/>
                </a:solidFill>
                <a:latin typeface="Calibri"/>
              </a:rPr>
              <a:t>within that budget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45B015-433E-63CB-BBD2-FB16F3A8D32A}"/>
              </a:ext>
            </a:extLst>
          </p:cNvPr>
          <p:cNvSpPr txBox="1"/>
          <p:nvPr/>
        </p:nvSpPr>
        <p:spPr>
          <a:xfrm>
            <a:off x="8409427" y="3369354"/>
            <a:ext cx="2057400" cy="7796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2000" b="1" dirty="0">
                <a:solidFill>
                  <a:srgbClr val="0072B2"/>
                </a:solidFill>
              </a:rPr>
              <a:t>5.7%</a:t>
            </a:r>
            <a:endParaRPr lang="en-US" sz="2000" b="0" i="0" dirty="0">
              <a:solidFill>
                <a:srgbClr val="555F6B"/>
              </a:solidFill>
              <a:latin typeface="Calibri"/>
            </a:endParaRPr>
          </a:p>
          <a:p>
            <a:pPr algn="ctr">
              <a:lnSpc>
                <a:spcPct val="105000"/>
              </a:lnSpc>
            </a:pPr>
            <a:r>
              <a:rPr sz="1150" b="0" i="0" dirty="0">
                <a:solidFill>
                  <a:srgbClr val="555F6B"/>
                </a:solidFill>
                <a:latin typeface="Calibri"/>
              </a:rPr>
              <a:t>of all King County sales</a:t>
            </a:r>
          </a:p>
          <a:p>
            <a:pPr algn="ctr">
              <a:lnSpc>
                <a:spcPct val="105000"/>
              </a:lnSpc>
            </a:pPr>
            <a:r>
              <a:rPr sz="1150" b="0" i="0" dirty="0">
                <a:solidFill>
                  <a:srgbClr val="555F6B"/>
                </a:solidFill>
                <a:latin typeface="Calibri"/>
              </a:rPr>
              <a:t>fit his needs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7AC938-E68C-37A9-B1B1-EA0A18243274}"/>
              </a:ext>
            </a:extLst>
          </p:cNvPr>
          <p:cNvSpPr/>
          <p:nvPr/>
        </p:nvSpPr>
        <p:spPr>
          <a:xfrm>
            <a:off x="548640" y="6035040"/>
            <a:ext cx="11109960" cy="566928"/>
          </a:xfrm>
          <a:prstGeom prst="rect">
            <a:avLst/>
          </a:prstGeom>
          <a:solidFill>
            <a:srgbClr val="0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8F2E02-743D-EA3E-0CDD-D7E826DECCD4}"/>
              </a:ext>
            </a:extLst>
          </p:cNvPr>
          <p:cNvSpPr txBox="1"/>
          <p:nvPr/>
        </p:nvSpPr>
        <p:spPr>
          <a:xfrm>
            <a:off x="777240" y="6108192"/>
            <a:ext cx="7391975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dirty="0">
                <a:solidFill>
                  <a:srgbClr val="F0E442"/>
                </a:solidFill>
                <a:latin typeface="Calibri"/>
              </a:rPr>
              <a:t>Answer: Yes — a family of 7 is realistically housed within this budget in King County.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5CB5E4-39B1-03EE-5310-7749F098DA5B}"/>
              </a:ext>
            </a:extLst>
          </p:cNvPr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55F6B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2552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Calibri"/>
              </a:rPr>
              <a:t>QUESTION 2 — 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2A45"/>
                </a:solidFill>
                <a:latin typeface="Calibri"/>
              </a:rPr>
              <a:t>Which neighborhood is both “nice” and family-friendly?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783" y="2016928"/>
            <a:ext cx="4066492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167" indent="-197167" algn="l">
              <a:spcAft>
                <a:spcPts val="1400"/>
              </a:spcAft>
            </a:pPr>
            <a:r>
              <a:rPr sz="13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350" dirty="0">
                <a:solidFill>
                  <a:srgbClr val="222B33"/>
                </a:solidFill>
                <a:latin typeface="Calibri"/>
              </a:rPr>
              <a:t>“Social density” — lots of other similarly affordable,</a:t>
            </a:r>
            <a:br>
              <a:rPr sz="1350" dirty="0">
                <a:solidFill>
                  <a:srgbClr val="222B33"/>
                </a:solidFill>
                <a:latin typeface="Calibri"/>
              </a:rPr>
            </a:br>
            <a:r>
              <a:rPr sz="1350" dirty="0">
                <a:solidFill>
                  <a:srgbClr val="222B33"/>
                </a:solidFill>
                <a:latin typeface="Calibri"/>
              </a:rPr>
              <a:t>family-sized homes nearby</a:t>
            </a:r>
          </a:p>
          <a:p>
            <a:pPr marL="197167" indent="-197167" algn="l">
              <a:spcAft>
                <a:spcPts val="1400"/>
              </a:spcAft>
            </a:pPr>
            <a:r>
              <a:rPr sz="13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350" dirty="0">
                <a:solidFill>
                  <a:srgbClr val="222B33"/>
                </a:solidFill>
                <a:latin typeface="Calibri"/>
              </a:rPr>
              <a:t>“Niceness” — above-average home condition and</a:t>
            </a:r>
            <a:br>
              <a:rPr sz="1350" dirty="0">
                <a:solidFill>
                  <a:srgbClr val="222B33"/>
                </a:solidFill>
                <a:latin typeface="Calibri"/>
              </a:rPr>
            </a:br>
            <a:r>
              <a:rPr sz="1350" dirty="0">
                <a:solidFill>
                  <a:srgbClr val="222B33"/>
                </a:solidFill>
                <a:latin typeface="Calibri"/>
              </a:rPr>
              <a:t>build quality (grade)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69013"/>
            <a:ext cx="4178635" cy="179343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4716" y="4186398"/>
            <a:ext cx="30761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 dirty="0">
                <a:solidFill>
                  <a:srgbClr val="0072B2"/>
                </a:solidFill>
                <a:latin typeface="Calibri"/>
              </a:rPr>
              <a:t>READING THE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484" y="4478786"/>
            <a:ext cx="3904315" cy="925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2" indent="-182562" algn="l">
              <a:spcAft>
                <a:spcPts val="1000"/>
              </a:spcAft>
            </a:pPr>
            <a:r>
              <a:rPr sz="12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Bigger bubble = more affordable family homes nearby</a:t>
            </a:r>
          </a:p>
          <a:p>
            <a:pPr marL="182562" indent="-182562" algn="l">
              <a:spcAft>
                <a:spcPts val="1000"/>
              </a:spcAft>
            </a:pPr>
            <a:r>
              <a:rPr sz="12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Further right / up = better condition and build quality</a:t>
            </a:r>
          </a:p>
          <a:p>
            <a:pPr marL="182562" indent="-182562" algn="l">
              <a:spcAft>
                <a:spcPts val="1000"/>
              </a:spcAft>
            </a:pPr>
            <a:r>
              <a:rPr sz="12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Two zip codes stand out: 98023 and 98092</a:t>
            </a:r>
          </a:p>
        </p:txBody>
      </p:sp>
      <p:pic>
        <p:nvPicPr>
          <p:cNvPr id="10" name="Picture 9" descr="hyp2_zipcod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731" y="1129223"/>
            <a:ext cx="6646653" cy="54087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55F6B"/>
                </a:solidFill>
                <a:latin typeface="Calibri"/>
              </a:rPr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9C491E-B384-FBFE-B5F3-829A390AC664}"/>
              </a:ext>
            </a:extLst>
          </p:cNvPr>
          <p:cNvSpPr txBox="1"/>
          <p:nvPr/>
        </p:nvSpPr>
        <p:spPr>
          <a:xfrm>
            <a:off x="548640" y="1207008"/>
            <a:ext cx="4428802" cy="5925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350" b="1" dirty="0">
                <a:solidFill>
                  <a:srgbClr val="555F6B"/>
                </a:solidFill>
                <a:latin typeface="Calibri"/>
              </a:rPr>
              <a:t>Among the affordable, family-sized homes, we grouped</a:t>
            </a:r>
          </a:p>
          <a:p>
            <a:pPr>
              <a:lnSpc>
                <a:spcPct val="125000"/>
              </a:lnSpc>
            </a:pPr>
            <a:r>
              <a:rPr lang="en-US" sz="1350" b="1" dirty="0">
                <a:solidFill>
                  <a:srgbClr val="555F6B"/>
                </a:solidFill>
                <a:latin typeface="Calibri"/>
              </a:rPr>
              <a:t>by neighborhood and looked for areas that combine: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yp2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86" y="1141476"/>
            <a:ext cx="5722424" cy="557936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Calibri"/>
              </a:rPr>
              <a:t>QUESTION 2 — 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969817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2A45"/>
                </a:solidFill>
                <a:latin typeface="Calibri"/>
              </a:rPr>
              <a:t>Where these homes sit — and our top pick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16150" y="1656081"/>
            <a:ext cx="4217572" cy="2070330"/>
          </a:xfrm>
          <a:prstGeom prst="roundRect">
            <a:avLst>
              <a:gd name="adj" fmla="val 8000"/>
            </a:avLst>
          </a:prstGeom>
          <a:solidFill>
            <a:srgbClr val="FDF6C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16150" y="1656081"/>
            <a:ext cx="109728" cy="2070330"/>
          </a:xfrm>
          <a:prstGeom prst="rect">
            <a:avLst/>
          </a:prstGeom>
          <a:solidFill>
            <a:srgbClr val="F0E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36190" y="1793241"/>
            <a:ext cx="3342327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dirty="0">
                <a:solidFill>
                  <a:srgbClr val="7A6000"/>
                </a:solidFill>
                <a:latin typeface="Calibri"/>
              </a:rPr>
              <a:t>★  1ST CHOICE — ZIP CODE 98023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36190" y="2204721"/>
            <a:ext cx="3897532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2" indent="-182562" algn="l">
              <a:spcAft>
                <a:spcPts val="800"/>
              </a:spcAft>
            </a:pPr>
            <a:r>
              <a:rPr sz="1250" b="1" dirty="0">
                <a:solidFill>
                  <a:srgbClr val="9A7B00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130 affordable, family-sized homes — by far the most</a:t>
            </a:r>
            <a:br>
              <a:rPr lang="en-US" sz="1250" dirty="0">
                <a:solidFill>
                  <a:srgbClr val="222B33"/>
                </a:solidFill>
                <a:latin typeface="Calibri"/>
              </a:rPr>
            </a:br>
            <a:r>
              <a:rPr sz="1250" dirty="0">
                <a:solidFill>
                  <a:srgbClr val="222B33"/>
                </a:solidFill>
                <a:latin typeface="Calibri"/>
              </a:rPr>
              <a:t>of any neighborhood</a:t>
            </a:r>
          </a:p>
          <a:p>
            <a:pPr marL="182562" indent="-182562" algn="l">
              <a:spcAft>
                <a:spcPts val="800"/>
              </a:spcAft>
            </a:pPr>
            <a:r>
              <a:rPr sz="1250" b="1" dirty="0">
                <a:solidFill>
                  <a:srgbClr val="9A7B00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Lower average price: $267,500</a:t>
            </a:r>
          </a:p>
          <a:p>
            <a:pPr marL="182562" indent="-182562" algn="l">
              <a:spcAft>
                <a:spcPts val="800"/>
              </a:spcAft>
            </a:pPr>
            <a:r>
              <a:rPr sz="1250" b="1" dirty="0">
                <a:solidFill>
                  <a:srgbClr val="9A7B00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Better average condition: 3.4 / 5</a:t>
            </a:r>
            <a:endParaRPr lang="en-US" sz="1250" dirty="0">
              <a:solidFill>
                <a:srgbClr val="222B33"/>
              </a:solidFill>
              <a:latin typeface="Calibri"/>
            </a:endParaRPr>
          </a:p>
          <a:p>
            <a:pPr marL="182562" indent="-182562">
              <a:spcAft>
                <a:spcPts val="800"/>
              </a:spcAft>
            </a:pPr>
            <a:r>
              <a:rPr lang="en-US" sz="1250" b="1" dirty="0">
                <a:solidFill>
                  <a:srgbClr val="9A7B00"/>
                </a:solidFill>
              </a:rPr>
              <a:t>●  </a:t>
            </a:r>
            <a:r>
              <a:rPr lang="en-US" sz="1250" dirty="0">
                <a:solidFill>
                  <a:srgbClr val="222B33"/>
                </a:solidFill>
              </a:rPr>
              <a:t>Build quality (grade): 7.5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16150" y="4216401"/>
            <a:ext cx="4217572" cy="1684215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16150" y="4216401"/>
            <a:ext cx="109728" cy="1684215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36190" y="4353561"/>
            <a:ext cx="3584917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dirty="0">
                <a:solidFill>
                  <a:srgbClr val="0072B2"/>
                </a:solidFill>
                <a:latin typeface="Calibri"/>
              </a:rPr>
              <a:t>2ND CHOICE — ZIP CODE 98092  (backup)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6190" y="4765041"/>
            <a:ext cx="3725594" cy="87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2" indent="-182562" algn="l">
              <a:spcAft>
                <a:spcPts val="800"/>
              </a:spcAft>
            </a:pPr>
            <a:r>
              <a:rPr sz="12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Highest average build quality (grade): 7.7 / 13</a:t>
            </a:r>
          </a:p>
          <a:p>
            <a:pPr marL="182562" indent="-182562" algn="l">
              <a:spcAft>
                <a:spcPts val="800"/>
              </a:spcAft>
            </a:pPr>
            <a:r>
              <a:rPr sz="12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But only 63 qualifying homes — far fewer choices</a:t>
            </a:r>
          </a:p>
          <a:p>
            <a:pPr marL="182562" indent="-182562" algn="l">
              <a:spcAft>
                <a:spcPts val="800"/>
              </a:spcAft>
            </a:pPr>
            <a:r>
              <a:rPr sz="12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Higher average price: $281,000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55F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yp3_monthl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130" y="1353312"/>
            <a:ext cx="7102653" cy="46300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Calibri"/>
              </a:rPr>
              <a:t>QUESTION 3 —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2A45"/>
                </a:solidFill>
                <a:latin typeface="Calibri"/>
              </a:rPr>
              <a:t>Is there a better time of year to buy?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204515" cy="5925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 dirty="0">
                <a:solidFill>
                  <a:srgbClr val="555F6B"/>
                </a:solidFill>
                <a:latin typeface="Calibri"/>
              </a:rPr>
              <a:t>We tracked the average price of affordable, family-</a:t>
            </a:r>
          </a:p>
          <a:p>
            <a:pPr algn="l">
              <a:lnSpc>
                <a:spcPct val="125000"/>
              </a:lnSpc>
            </a:pPr>
            <a:r>
              <a:rPr sz="1350" b="1" i="0" dirty="0">
                <a:solidFill>
                  <a:srgbClr val="555F6B"/>
                </a:solidFill>
                <a:latin typeface="Calibri"/>
              </a:rPr>
              <a:t>sized homes month by month across the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0123" y="2247180"/>
            <a:ext cx="2169543" cy="10058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27437" y="2273328"/>
            <a:ext cx="1121434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56B4E9"/>
                </a:solidFill>
                <a:latin typeface="Calibri"/>
              </a:rPr>
              <a:t>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7279" y="2754072"/>
            <a:ext cx="1841740" cy="45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 dirty="0">
                <a:solidFill>
                  <a:srgbClr val="555F6B"/>
                </a:solidFill>
                <a:latin typeface="Calibri"/>
              </a:rPr>
              <a:t>price swing across the</a:t>
            </a:r>
          </a:p>
          <a:p>
            <a:pPr algn="ctr">
              <a:lnSpc>
                <a:spcPct val="105000"/>
              </a:lnSpc>
            </a:pPr>
            <a:r>
              <a:rPr sz="1150" b="0" i="0" dirty="0">
                <a:solidFill>
                  <a:srgbClr val="555F6B"/>
                </a:solidFill>
                <a:latin typeface="Calibri"/>
              </a:rPr>
              <a:t>entire year — fairly flat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0123" y="3390180"/>
            <a:ext cx="2169543" cy="10058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3213" y="3397494"/>
            <a:ext cx="124565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0072B2"/>
                </a:solidFill>
                <a:latin typeface="Calibri"/>
              </a:rPr>
              <a:t>Dec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921" y="3872800"/>
            <a:ext cx="1617453" cy="45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 dirty="0">
                <a:solidFill>
                  <a:srgbClr val="555F6B"/>
                </a:solidFill>
                <a:latin typeface="Calibri"/>
              </a:rPr>
              <a:t>cheapest month</a:t>
            </a:r>
          </a:p>
          <a:p>
            <a:pPr algn="ctr">
              <a:lnSpc>
                <a:spcPct val="105000"/>
              </a:lnSpc>
            </a:pPr>
            <a:r>
              <a:rPr sz="1150" b="0" i="0" dirty="0">
                <a:solidFill>
                  <a:srgbClr val="555F6B"/>
                </a:solidFill>
                <a:latin typeface="Calibri"/>
              </a:rPr>
              <a:t>(avg. $261,149)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0123" y="4533180"/>
            <a:ext cx="2169543" cy="10058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03213" y="4533180"/>
            <a:ext cx="117664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0072B2"/>
                </a:solidFill>
                <a:latin typeface="Calibri"/>
              </a:rPr>
              <a:t>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6101" y="5013101"/>
            <a:ext cx="1695091" cy="45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 dirty="0">
                <a:solidFill>
                  <a:srgbClr val="555F6B"/>
                </a:solidFill>
                <a:latin typeface="Calibri"/>
              </a:rPr>
              <a:t>priciest month</a:t>
            </a:r>
          </a:p>
          <a:p>
            <a:pPr algn="ctr">
              <a:lnSpc>
                <a:spcPct val="105000"/>
              </a:lnSpc>
            </a:pPr>
            <a:r>
              <a:rPr sz="1150" b="0" i="0" dirty="0">
                <a:solidFill>
                  <a:srgbClr val="555F6B"/>
                </a:solidFill>
                <a:latin typeface="Calibri"/>
              </a:rPr>
              <a:t>(avg. $282,673)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35040"/>
            <a:ext cx="11109960" cy="566928"/>
          </a:xfrm>
          <a:prstGeom prst="rect">
            <a:avLst/>
          </a:prstGeom>
          <a:solidFill>
            <a:srgbClr val="0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3400" y="6145690"/>
            <a:ext cx="8085407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dirty="0">
                <a:solidFill>
                  <a:srgbClr val="F0E442"/>
                </a:solidFill>
                <a:latin typeface="Calibri"/>
              </a:rPr>
              <a:t>Answer: Timing barely moves the needle — location matters far more than the calendar.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55F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yp3_by_zip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157" y="1183606"/>
            <a:ext cx="7259953" cy="473256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Calibri"/>
              </a:rPr>
              <a:t>QUESTION 3 —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39" y="621792"/>
            <a:ext cx="7477761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2A45"/>
                </a:solidFill>
                <a:latin typeface="Calibri"/>
              </a:rPr>
              <a:t>Does the pattern hold within each zipcode?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83105"/>
            <a:ext cx="3437206" cy="1516966"/>
          </a:xfrm>
          <a:prstGeom prst="roundRect">
            <a:avLst>
              <a:gd name="adj" fmla="val 8000"/>
            </a:avLst>
          </a:prstGeom>
          <a:solidFill>
            <a:srgbClr val="FDF6C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983105"/>
            <a:ext cx="109728" cy="1516966"/>
          </a:xfrm>
          <a:prstGeom prst="rect">
            <a:avLst/>
          </a:prstGeom>
          <a:solidFill>
            <a:srgbClr val="F0E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20265"/>
            <a:ext cx="47320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7A6000"/>
                </a:solidFill>
                <a:latin typeface="Calibri"/>
              </a:rPr>
              <a:t>★  ZIP CODE 98023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79" y="2531745"/>
            <a:ext cx="3117167" cy="87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2" indent="-182562" algn="l">
              <a:spcAft>
                <a:spcPts val="800"/>
              </a:spcAft>
            </a:pPr>
            <a:r>
              <a:rPr sz="1250" b="1" dirty="0">
                <a:solidFill>
                  <a:srgbClr val="9A7B00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~17% price swing across the year</a:t>
            </a:r>
          </a:p>
          <a:p>
            <a:pPr marL="182562" indent="-182562" algn="l">
              <a:spcAft>
                <a:spcPts val="800"/>
              </a:spcAft>
            </a:pPr>
            <a:r>
              <a:rPr sz="1250" b="1" dirty="0">
                <a:solidFill>
                  <a:srgbClr val="9A7B00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Cheapest month: June (avg $241,512)</a:t>
            </a:r>
          </a:p>
          <a:p>
            <a:pPr marL="182562" indent="-182562" algn="l">
              <a:spcAft>
                <a:spcPts val="800"/>
              </a:spcAft>
            </a:pPr>
            <a:r>
              <a:rPr sz="1250" b="1" dirty="0">
                <a:solidFill>
                  <a:srgbClr val="9A7B00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Priciest month: February (avg $287,922)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63590"/>
            <a:ext cx="3437206" cy="1516966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3763590"/>
            <a:ext cx="109728" cy="151696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900750"/>
            <a:ext cx="47320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72B2"/>
                </a:solidFill>
                <a:latin typeface="Calibri"/>
              </a:rPr>
              <a:t>ZIP CODE 98092  (backup)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79" y="4312230"/>
            <a:ext cx="3117167" cy="87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2" indent="-182562" algn="l">
              <a:spcAft>
                <a:spcPts val="800"/>
              </a:spcAft>
            </a:pPr>
            <a:r>
              <a:rPr sz="12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~15% price swing across the year</a:t>
            </a:r>
          </a:p>
          <a:p>
            <a:pPr marL="182562" indent="-182562" algn="l">
              <a:spcAft>
                <a:spcPts val="800"/>
              </a:spcAft>
            </a:pPr>
            <a:r>
              <a:rPr sz="12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Cheapest month: May (avg $253,667)</a:t>
            </a:r>
          </a:p>
          <a:p>
            <a:pPr marL="182562" indent="-182562" algn="l">
              <a:spcAft>
                <a:spcPts val="800"/>
              </a:spcAft>
            </a:pPr>
            <a:r>
              <a:rPr sz="1250" b="1" dirty="0">
                <a:solidFill>
                  <a:srgbClr val="0072B2"/>
                </a:solidFill>
                <a:latin typeface="Calibri"/>
              </a:rPr>
              <a:t>●  </a:t>
            </a:r>
            <a:r>
              <a:rPr sz="1250" dirty="0">
                <a:solidFill>
                  <a:srgbClr val="222B33"/>
                </a:solidFill>
                <a:latin typeface="Calibri"/>
              </a:rPr>
              <a:t>Priciest month: January (avg $296,612)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035040"/>
            <a:ext cx="11109960" cy="566928"/>
          </a:xfrm>
          <a:prstGeom prst="rect">
            <a:avLst/>
          </a:prstGeom>
          <a:solidFill>
            <a:srgbClr val="0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6155264"/>
            <a:ext cx="11245595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dirty="0">
                <a:solidFill>
                  <a:srgbClr val="F0E442"/>
                </a:solidFill>
                <a:latin typeface="Calibri"/>
              </a:rPr>
              <a:t>Answer: Each </a:t>
            </a:r>
            <a:r>
              <a:rPr sz="1500" b="1" i="0" dirty="0" err="1">
                <a:solidFill>
                  <a:srgbClr val="F0E442"/>
                </a:solidFill>
                <a:latin typeface="Calibri"/>
              </a:rPr>
              <a:t>zipcode</a:t>
            </a:r>
            <a:r>
              <a:rPr sz="1500" b="1" i="0" dirty="0">
                <a:solidFill>
                  <a:srgbClr val="F0E442"/>
                </a:solidFill>
                <a:latin typeface="Calibri"/>
              </a:rPr>
              <a:t> has its own seasonal pattern — the countywide “December is cheapest” doesn’t apply to 98023 or 98092</a:t>
            </a:r>
            <a:r>
              <a:rPr lang="en-US" sz="1500" b="1" i="0" dirty="0">
                <a:solidFill>
                  <a:srgbClr val="F0E442"/>
                </a:solidFill>
                <a:latin typeface="Calibri"/>
              </a:rPr>
              <a:t> </a:t>
            </a:r>
            <a:r>
              <a:rPr sz="1500" b="1" i="0" dirty="0">
                <a:solidFill>
                  <a:srgbClr val="F0E442"/>
                </a:solidFill>
                <a:latin typeface="Calibri"/>
              </a:rPr>
              <a:t>specifically.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55F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2A45"/>
                </a:solidFill>
                <a:latin typeface="Calibri"/>
              </a:rPr>
              <a:t>Key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109960" cy="14630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9019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2A45"/>
                </a:solidFill>
                <a:latin typeface="Calibri"/>
              </a:rPr>
              <a:t>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286000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B33"/>
                </a:solidFill>
                <a:latin typeface="Calibri"/>
              </a:rPr>
              <a:t>Even on a strict budget, there are 1,227 homes with 4+ bedrooms available — a family of 7 is realistically housed in King County.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11109960" cy="14630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3749040"/>
            <a:ext cx="822960" cy="82296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5935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2A45"/>
                </a:solidFill>
                <a:latin typeface="Calibri"/>
              </a:rPr>
              <a:t>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977640"/>
            <a:ext cx="941832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dirty="0">
                <a:solidFill>
                  <a:srgbClr val="222B33"/>
                </a:solidFill>
                <a:latin typeface="Calibri"/>
              </a:rPr>
              <a:t>Zip code 98023 stands out with the most affordable, family-sized homes of any neighborhood, at a price well under budget, with above-average condition and quality.</a:t>
            </a:r>
            <a:endParaRPr lang="en-US" sz="1250" b="0" i="0" dirty="0">
              <a:solidFill>
                <a:srgbClr val="222B33"/>
              </a:solidFill>
              <a:latin typeface="Calibri"/>
            </a:endParaRPr>
          </a:p>
          <a:p>
            <a:pPr algn="l">
              <a:lnSpc>
                <a:spcPct val="120000"/>
              </a:lnSpc>
            </a:pPr>
            <a:r>
              <a:rPr sz="1250" b="0" i="0" dirty="0">
                <a:solidFill>
                  <a:srgbClr val="222B33"/>
                </a:solidFill>
                <a:latin typeface="Calibri"/>
              </a:rPr>
              <a:t> 98092 is a strong backup.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20640"/>
            <a:ext cx="11109960" cy="14630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5440680"/>
            <a:ext cx="822960" cy="822960"/>
          </a:xfrm>
          <a:prstGeom prst="ellipse">
            <a:avLst/>
          </a:prstGeom>
          <a:solidFill>
            <a:srgbClr val="0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2852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2A45"/>
                </a:solidFill>
                <a:latin typeface="Calibri"/>
              </a:rPr>
              <a:t>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5669280"/>
            <a:ext cx="941832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dirty="0">
                <a:solidFill>
                  <a:srgbClr val="222B33"/>
                </a:solidFill>
                <a:latin typeface="Calibri"/>
              </a:rPr>
              <a:t>The ~8% swing is a county-wide average — 98023 and 98092 actually move 15–17% individually. </a:t>
            </a:r>
            <a:endParaRPr lang="en-US" sz="1250" b="0" i="0" dirty="0">
              <a:solidFill>
                <a:srgbClr val="222B33"/>
              </a:solidFill>
              <a:latin typeface="Calibri"/>
            </a:endParaRPr>
          </a:p>
          <a:p>
            <a:pPr algn="l">
              <a:lnSpc>
                <a:spcPct val="120000"/>
              </a:lnSpc>
            </a:pPr>
            <a:r>
              <a:rPr sz="1250" b="0" i="0" dirty="0">
                <a:solidFill>
                  <a:srgbClr val="222B33"/>
                </a:solidFill>
                <a:latin typeface="Calibri"/>
              </a:rPr>
              <a:t>Location, not the calendar, should still drive the decision.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55F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8016"/>
            <a:ext cx="12191695" cy="27432"/>
          </a:xfrm>
          <a:prstGeom prst="rect">
            <a:avLst/>
          </a:prstGeom>
          <a:solidFill>
            <a:srgbClr val="F0E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6B4E9"/>
                </a:solidFill>
                <a:latin typeface="Calibri"/>
              </a:rPr>
              <a:t>OUR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 recommend for Thomas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F0E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B2A45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73352"/>
            <a:ext cx="10241280" cy="3508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</a:rPr>
              <a:t>Start the search in zip code 98023 first — it offers the best mix of affordability, family-home availability, and community density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F0E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B2A45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16352"/>
            <a:ext cx="10241280" cy="3508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</a:rPr>
              <a:t>Keep zip code 98092 as a backup — slightly higher average build quality, but fewer homes on the market and a higher price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977640"/>
            <a:ext cx="548640" cy="548640"/>
          </a:xfrm>
          <a:prstGeom prst="ellipse">
            <a:avLst/>
          </a:prstGeom>
          <a:solidFill>
            <a:srgbClr val="F0E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B2A45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35527"/>
            <a:ext cx="10241280" cy="904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</a:rPr>
              <a:t>Don't over-optimize for timing — within either </a:t>
            </a:r>
            <a:r>
              <a:rPr lang="en-US" sz="1500" dirty="0" err="1">
                <a:solidFill>
                  <a:srgbClr val="FFFFFF"/>
                </a:solidFill>
              </a:rPr>
              <a:t>zipcode</a:t>
            </a:r>
            <a:r>
              <a:rPr lang="en-US" sz="1500" dirty="0">
                <a:solidFill>
                  <a:srgbClr val="FFFFFF"/>
                </a:solidFill>
              </a:rPr>
              <a:t>, month-to-month swings (15–17%) are still smaller than what separates a home that fits his needs from one that doesn’t. </a:t>
            </a:r>
          </a:p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</a:rPr>
              <a:t>Let location drive the decision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rgbClr val="F0E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B2A45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102352"/>
            <a:ext cx="10241280" cy="62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</a:rPr>
              <a:t>If flexible on timing, use the </a:t>
            </a:r>
            <a:r>
              <a:rPr lang="en-US" sz="1500" dirty="0" err="1">
                <a:solidFill>
                  <a:srgbClr val="FFFFFF"/>
                </a:solidFill>
              </a:rPr>
              <a:t>zipcode</a:t>
            </a:r>
            <a:r>
              <a:rPr lang="en-US" sz="1500" dirty="0">
                <a:solidFill>
                  <a:srgbClr val="FFFFFF"/>
                </a:solidFill>
              </a:rPr>
              <a:t>-specific pattern, not the countywide one: </a:t>
            </a:r>
          </a:p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</a:rPr>
              <a:t>prices tend to be lowest around June in 98023, and around May in 98092 — not December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55F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109728"/>
          </a:xfrm>
          <a:prstGeom prst="rect">
            <a:avLst/>
          </a:prstGeom>
          <a:solidFill>
            <a:srgbClr val="F0E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56B4E9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FB3C8"/>
                </a:solidFill>
                <a:latin typeface="Calibri"/>
              </a:rPr>
              <a:t>Full analysis: 04_eda.ipynb  |  King County Housing EDA — ds-eda-project-template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55F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1096</Words>
  <Application>Microsoft Office PowerPoint</Application>
  <PresentationFormat>Widescreen</PresentationFormat>
  <Paragraphs>165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Micheal Eshak</cp:lastModifiedBy>
  <cp:revision>14</cp:revision>
  <dcterms:created xsi:type="dcterms:W3CDTF">2013-01-27T09:14:16Z</dcterms:created>
  <dcterms:modified xsi:type="dcterms:W3CDTF">2026-09-18T09:23:28Z</dcterms:modified>
  <cp:category/>
</cp:coreProperties>
</file>